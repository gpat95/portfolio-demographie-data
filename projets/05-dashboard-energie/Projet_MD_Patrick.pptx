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2" r:id="rId6"/>
    <p:sldId id="264" r:id="rId7"/>
    <p:sldId id="269" r:id="rId8"/>
    <p:sldId id="261" r:id="rId9"/>
    <p:sldId id="263" r:id="rId10"/>
    <p:sldId id="265" r:id="rId11"/>
    <p:sldId id="267" r:id="rId12"/>
    <p:sldId id="268" r:id="rId13"/>
  </p:sldIdLst>
  <p:sldSz cx="18288000" cy="10287000"/>
  <p:notesSz cx="6858000" cy="9144000"/>
  <p:embeddedFontLst>
    <p:embeddedFont>
      <p:font typeface="Helvetica World" panose="020B0604020202020204" charset="-128"/>
      <p:regular r:id="rId15"/>
    </p:embeddedFont>
    <p:embeddedFont>
      <p:font typeface="Helvetica World Bold" panose="020B0604020202020204" charset="-128"/>
      <p:regular r:id="rId16"/>
    </p:embeddedFont>
    <p:embeddedFont>
      <p:font typeface="Body Grotesque" panose="020B0604020202020204" charset="0"/>
      <p:regular r:id="rId17"/>
    </p:embeddedFont>
    <p:embeddedFont>
      <p:font typeface="Microsoft Tai Le" panose="020B0502040204020203" pitchFamily="34" charset="0"/>
      <p:regular r:id="rId18"/>
      <p:bold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Bold" panose="00000800000000000000" charset="0"/>
      <p:regular r:id="rId24"/>
    </p:embeddedFont>
    <p:embeddedFont>
      <p:font typeface="TT Commons Pro" panose="020B0604020202020204" charset="0"/>
      <p:regular r:id="rId25"/>
    </p:embeddedFont>
    <p:embeddedFont>
      <p:font typeface="TT Commons Pro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9905" autoAdjust="0"/>
  </p:normalViewPr>
  <p:slideViewPr>
    <p:cSldViewPr>
      <p:cViewPr varScale="1">
        <p:scale>
          <a:sx n="58" d="100"/>
          <a:sy n="58" d="100"/>
        </p:scale>
        <p:origin x="141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0D310-22D7-4AA8-8F3D-FB2293435220}" type="datetimeFigureOut">
              <a:rPr lang="fr-FR" smtClean="0"/>
              <a:t>19/09/2026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A4A6B-1621-4505-A05A-AEDF2AECDF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90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voit ici que la maison fonctionne selon deux rythmes principaux :</a:t>
            </a:r>
          </a:p>
          <a:p>
            <a:endParaRPr lang="fr-FR" dirty="0"/>
          </a:p>
          <a:p>
            <a:r>
              <a:rPr lang="fr-FR" dirty="0"/>
              <a:t>- un rythme lié aux activités de semaine ; </a:t>
            </a:r>
          </a:p>
          <a:p>
            <a:pPr marL="0" indent="0">
              <a:buFontTx/>
              <a:buNone/>
            </a:pPr>
            <a:r>
              <a:rPr lang="fr-FR" dirty="0"/>
              <a:t>- un rythme plus calme durant le week-end. </a:t>
            </a:r>
          </a:p>
          <a:p>
            <a:pPr marL="0" indent="0">
              <a:buFontTx/>
              <a:buNone/>
            </a:pPr>
            <a:endParaRPr lang="fr-FR" dirty="0"/>
          </a:p>
          <a:p>
            <a:r>
              <a:rPr lang="fr-FR" dirty="0"/>
              <a:t>Ce qui  indique que :</a:t>
            </a:r>
          </a:p>
          <a:p>
            <a:r>
              <a:rPr lang="fr-FR" dirty="0"/>
              <a:t>- l’occupation des pièces influence fortement les températures ; </a:t>
            </a:r>
          </a:p>
          <a:p>
            <a:r>
              <a:rPr lang="fr-FR" dirty="0"/>
              <a:t>- certains pièces, comme la réception, réagissent davantage à l’activité humaine ; </a:t>
            </a:r>
          </a:p>
          <a:p>
            <a:r>
              <a:rPr lang="fr-FR" dirty="0"/>
              <a:t>- les chambres restent globalement plus stables thermiquement.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A4A6B-1621-4505-A05A-AEDF2AECDFE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770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</a:t>
            </a:r>
            <a:r>
              <a:rPr lang="fr-FR" dirty="0"/>
              <a:t>es fluctuations de la réception: une plus grande circulation d’air, ouverture des portes, et puis la </a:t>
            </a:r>
            <a:r>
              <a:rPr lang="fr-FR" dirty="0" err="1"/>
              <a:t>frequentation</a:t>
            </a:r>
            <a:r>
              <a:rPr lang="fr-FR" dirty="0"/>
              <a:t> des pièces</a:t>
            </a:r>
          </a:p>
          <a:p>
            <a:endParaRPr lang="fr-FR" dirty="0"/>
          </a:p>
          <a:p>
            <a:r>
              <a:rPr lang="fr-FR" dirty="0"/>
              <a:t>Dans la chambre = environnement plus contrôlé ; avec de la stabilité</a:t>
            </a:r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les températures augmentent généralement durant la matinée, atteignent un maximum vers midi/après-midi puis diminuent progressivement le soir.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A4A6B-1621-4505-A05A-AEDF2AECDFE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49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3BF1-DF2D-BA90-E366-6065804EC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5666B-3B19-C328-2919-EA30D2050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FC190-E502-E1D9-4829-2380426E8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</a:t>
            </a:r>
            <a:r>
              <a:rPr lang="fr-FR" dirty="0"/>
              <a:t>es fluctuations de la réception: une plus grande circulation d’air, ouverture des portes, et puis la </a:t>
            </a:r>
            <a:r>
              <a:rPr lang="fr-FR" dirty="0" err="1"/>
              <a:t>frequentation</a:t>
            </a:r>
            <a:r>
              <a:rPr lang="fr-FR" dirty="0"/>
              <a:t> des pièces</a:t>
            </a:r>
          </a:p>
          <a:p>
            <a:endParaRPr lang="fr-FR" dirty="0"/>
          </a:p>
          <a:p>
            <a:r>
              <a:rPr lang="fr-FR" dirty="0"/>
              <a:t>Dans la chambre = environnement plus contrôlé ; avec de la stabilité</a:t>
            </a:r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les températures augmentent généralement durant la matinée, atteignent un maximum vers midi/après-midi puis diminuent progressivement le soir.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5E9AB-29A1-8709-3963-064EFFF0B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A4A6B-1621-4505-A05A-AEDF2AECDFE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651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confirmer ces </a:t>
            </a:r>
            <a:r>
              <a:rPr lang="fr-FR" dirty="0" err="1"/>
              <a:t>explorartions</a:t>
            </a:r>
            <a:r>
              <a:rPr lang="fr-FR" dirty="0"/>
              <a:t>, j’ai fait une modélisation pour observer le rôle du temps qu’il fait dehors sur la température extérieur.  Vu la plus ou moins stabilité observée des températures intérieurs, Est-ce que cette régularité neutralise l’effet de la </a:t>
            </a:r>
            <a:r>
              <a:rPr lang="fr-FR" dirty="0" err="1"/>
              <a:t>temperature</a:t>
            </a:r>
            <a:r>
              <a:rPr lang="fr-FR" dirty="0"/>
              <a:t> </a:t>
            </a:r>
            <a:r>
              <a:rPr lang="fr-FR" dirty="0" err="1"/>
              <a:t>exterieur</a:t>
            </a:r>
            <a:r>
              <a:rPr lang="fr-FR" dirty="0"/>
              <a:t>?</a:t>
            </a:r>
          </a:p>
          <a:p>
            <a:endParaRPr lang="fr-FR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dirty="0" err="1"/>
              <a:t>Lheure</a:t>
            </a:r>
            <a:r>
              <a:rPr lang="fr-FR" dirty="0"/>
              <a:t> de la journée explique l'essentiel des variations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dirty="0"/>
              <a:t>l'humidité a un effet positif </a:t>
            </a:r>
            <a:r>
              <a:rPr lang="fr-FR" dirty="0" err="1"/>
              <a:t>moderé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dirty="0"/>
              <a:t>L'effet de la </a:t>
            </a:r>
            <a:r>
              <a:rPr lang="fr-FR" dirty="0" err="1"/>
              <a:t>temperature</a:t>
            </a:r>
            <a:r>
              <a:rPr lang="fr-FR" dirty="0"/>
              <a:t> </a:t>
            </a:r>
            <a:r>
              <a:rPr lang="fr-FR" dirty="0" err="1"/>
              <a:t>exterieur</a:t>
            </a:r>
            <a:r>
              <a:rPr lang="fr-FR" dirty="0"/>
              <a:t> n'est pas </a:t>
            </a:r>
            <a:r>
              <a:rPr lang="fr-FR" dirty="0" err="1"/>
              <a:t>signifiacatif</a:t>
            </a:r>
            <a:r>
              <a:rPr lang="fr-FR" dirty="0"/>
              <a:t> donc la </a:t>
            </a:r>
            <a:r>
              <a:rPr lang="fr-FR" dirty="0" err="1"/>
              <a:t>meteo</a:t>
            </a:r>
            <a:r>
              <a:rPr lang="fr-FR" dirty="0"/>
              <a:t> ne joue pas vraiment un </a:t>
            </a:r>
            <a:r>
              <a:rPr lang="fr-FR" dirty="0" err="1"/>
              <a:t>role</a:t>
            </a:r>
            <a:r>
              <a:rPr lang="fr-FR" dirty="0"/>
              <a:t>. La température est </a:t>
            </a:r>
            <a:r>
              <a:rPr lang="fr-FR" dirty="0" err="1"/>
              <a:t>reglé</a:t>
            </a:r>
            <a:r>
              <a:rPr lang="fr-FR" dirty="0"/>
              <a:t> pour </a:t>
            </a:r>
            <a:r>
              <a:rPr lang="fr-FR" dirty="0" err="1"/>
              <a:t>eliminer</a:t>
            </a:r>
            <a:r>
              <a:rPr lang="fr-FR" dirty="0"/>
              <a:t> cet effet.</a:t>
            </a:r>
          </a:p>
          <a:p>
            <a:endParaRPr lang="fr-FR" dirty="0"/>
          </a:p>
          <a:p>
            <a:r>
              <a:rPr lang="fr-FR" dirty="0"/>
              <a:t>Le </a:t>
            </a:r>
            <a:r>
              <a:rPr lang="fr-FR" dirty="0" err="1"/>
              <a:t>modele</a:t>
            </a:r>
            <a:r>
              <a:rPr lang="fr-FR" dirty="0"/>
              <a:t> n'explique que 25% des variations de la température </a:t>
            </a:r>
            <a:r>
              <a:rPr lang="fr-FR" dirty="0" err="1"/>
              <a:t>interieur</a:t>
            </a:r>
            <a:r>
              <a:rPr lang="fr-FR" dirty="0"/>
              <a:t> donc des facteurs non mesuré jouent sans doute beaucoup: l'occupation des pièces, les ouvertures de portes, et ce qui est sans doute le facteur le plus important à mon avis le </a:t>
            </a:r>
            <a:r>
              <a:rPr lang="fr-FR" dirty="0" err="1"/>
              <a:t>reglage</a:t>
            </a:r>
            <a:r>
              <a:rPr lang="fr-FR" dirty="0"/>
              <a:t> du chauffage(</a:t>
            </a:r>
            <a:r>
              <a:rPr lang="fr-FR" dirty="0" err="1"/>
              <a:t>peut-etre</a:t>
            </a:r>
            <a:r>
              <a:rPr lang="fr-FR" dirty="0"/>
              <a:t> une </a:t>
            </a:r>
            <a:r>
              <a:rPr lang="fr-FR" dirty="0" err="1"/>
              <a:t>reglementation</a:t>
            </a:r>
            <a:r>
              <a:rPr lang="fr-FR" dirty="0"/>
              <a:t> qui fixe un seuil de </a:t>
            </a:r>
            <a:r>
              <a:rPr lang="fr-FR" dirty="0" err="1"/>
              <a:t>temperature</a:t>
            </a:r>
            <a:r>
              <a:rPr lang="fr-FR" dirty="0"/>
              <a:t>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A4A6B-1621-4505-A05A-AEDF2AECDFE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4164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A4A6B-1621-4505-A05A-AEDF2AECDFE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304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66" y="-210491"/>
            <a:ext cx="1652243" cy="10497491"/>
            <a:chOff x="0" y="-57150"/>
            <a:chExt cx="480314" cy="29479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0314" cy="2890837"/>
            </a:xfrm>
            <a:custGeom>
              <a:avLst/>
              <a:gdLst/>
              <a:ahLst/>
              <a:cxnLst/>
              <a:rect l="l" t="t" r="r" b="b"/>
              <a:pathLst>
                <a:path w="480314" h="2890837">
                  <a:moveTo>
                    <a:pt x="0" y="0"/>
                  </a:moveTo>
                  <a:lnTo>
                    <a:pt x="480314" y="0"/>
                  </a:lnTo>
                  <a:lnTo>
                    <a:pt x="480314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0314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2618" y="2727763"/>
            <a:ext cx="7740248" cy="4866151"/>
            <a:chOff x="0" y="0"/>
            <a:chExt cx="10320330" cy="6488202"/>
          </a:xfrm>
        </p:grpSpPr>
        <p:sp>
          <p:nvSpPr>
            <p:cNvPr id="6" name="AutoShape 6"/>
            <p:cNvSpPr/>
            <p:nvPr/>
          </p:nvSpPr>
          <p:spPr>
            <a:xfrm>
              <a:off x="0" y="0"/>
              <a:ext cx="10320330" cy="6488202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315200" y="761446"/>
            <a:ext cx="7544004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4"/>
              </a:lnSpc>
            </a:pPr>
            <a:r>
              <a:rPr lang="en-US" sz="6843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Projet</a:t>
            </a:r>
            <a:r>
              <a:rPr lang="en-US" sz="684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48400" y="3162300"/>
            <a:ext cx="10125870" cy="36217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Analyse</a:t>
            </a:r>
            <a:r>
              <a:rPr lang="en-US" sz="5400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des données </a:t>
            </a:r>
            <a:r>
              <a:rPr lang="en-US" sz="5400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thermiques</a:t>
            </a:r>
            <a:r>
              <a:rPr lang="en-US" sz="5400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et </a:t>
            </a:r>
            <a:r>
              <a:rPr lang="en-US" sz="5400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énergetique</a:t>
            </a:r>
            <a:r>
              <a:rPr lang="en-US" sz="5400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de la maison de repos LD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 rot="-334572">
            <a:off x="238947" y="2507937"/>
            <a:ext cx="5276065" cy="5271124"/>
            <a:chOff x="0" y="0"/>
            <a:chExt cx="3255264" cy="32522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55264" cy="3252216"/>
            </a:xfrm>
            <a:custGeom>
              <a:avLst/>
              <a:gdLst/>
              <a:ahLst/>
              <a:cxnLst/>
              <a:rect l="l" t="t" r="r" b="b"/>
              <a:pathLst>
                <a:path w="3255264" h="3252216">
                  <a:moveTo>
                    <a:pt x="3255264" y="3252216"/>
                  </a:moveTo>
                  <a:lnTo>
                    <a:pt x="0" y="3252216"/>
                  </a:lnTo>
                  <a:lnTo>
                    <a:pt x="0" y="0"/>
                  </a:lnTo>
                  <a:lnTo>
                    <a:pt x="3255264" y="0"/>
                  </a:lnTo>
                  <a:lnTo>
                    <a:pt x="3255264" y="3252216"/>
                  </a:lnTo>
                  <a:close/>
                </a:path>
              </a:pathLst>
            </a:custGeom>
            <a:blipFill>
              <a:blip r:embed="rId2"/>
              <a:stretch>
                <a:fillRect l="-15" r="-1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/>
            <p:nvPr/>
          </p:nvSpPr>
          <p:spPr>
            <a:xfrm rot="-672203">
              <a:off x="-57384" y="-71894"/>
              <a:ext cx="3380706" cy="3359900"/>
            </a:xfrm>
            <a:custGeom>
              <a:avLst/>
              <a:gdLst/>
              <a:ahLst/>
              <a:cxnLst/>
              <a:rect l="l" t="t" r="r" b="b"/>
              <a:pathLst>
                <a:path w="3380706" h="3359900">
                  <a:moveTo>
                    <a:pt x="607479" y="545"/>
                  </a:moveTo>
                  <a:lnTo>
                    <a:pt x="3360561" y="578286"/>
                  </a:lnTo>
                  <a:cubicBezTo>
                    <a:pt x="3374288" y="581167"/>
                    <a:pt x="3383065" y="594649"/>
                    <a:pt x="3380145" y="608369"/>
                  </a:cubicBezTo>
                  <a:lnTo>
                    <a:pt x="2798583" y="3339828"/>
                  </a:lnTo>
                  <a:cubicBezTo>
                    <a:pt x="2795656" y="3353572"/>
                    <a:pt x="2782106" y="3362313"/>
                    <a:pt x="2768378" y="3359309"/>
                  </a:cubicBezTo>
                  <a:lnTo>
                    <a:pt x="19934" y="2758151"/>
                  </a:lnTo>
                  <a:cubicBezTo>
                    <a:pt x="6313" y="2755173"/>
                    <a:pt x="-2344" y="2741749"/>
                    <a:pt x="561" y="2728110"/>
                  </a:cubicBezTo>
                  <a:lnTo>
                    <a:pt x="577485" y="20068"/>
                  </a:lnTo>
                  <a:cubicBezTo>
                    <a:pt x="580396" y="6408"/>
                    <a:pt x="593810" y="-2323"/>
                    <a:pt x="607479" y="545"/>
                  </a:cubicBezTo>
                  <a:close/>
                </a:path>
              </a:pathLst>
            </a:custGeom>
            <a:blipFill>
              <a:blip r:embed="rId3"/>
              <a:stretch>
                <a:fillRect l="-25078" t="-362" r="-24941" b="-36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00902" y="8057603"/>
            <a:ext cx="9372600" cy="1467950"/>
            <a:chOff x="0" y="-88422"/>
            <a:chExt cx="2367525" cy="3245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7525" cy="218998"/>
            </a:xfrm>
            <a:custGeom>
              <a:avLst/>
              <a:gdLst/>
              <a:ahLst/>
              <a:cxnLst/>
              <a:rect l="l" t="t" r="r" b="b"/>
              <a:pathLst>
                <a:path w="2367525" h="218998">
                  <a:moveTo>
                    <a:pt x="58565" y="0"/>
                  </a:moveTo>
                  <a:lnTo>
                    <a:pt x="2308961" y="0"/>
                  </a:lnTo>
                  <a:cubicBezTo>
                    <a:pt x="2341305" y="0"/>
                    <a:pt x="2367525" y="26220"/>
                    <a:pt x="2367525" y="58565"/>
                  </a:cubicBezTo>
                  <a:lnTo>
                    <a:pt x="2367525" y="160433"/>
                  </a:lnTo>
                  <a:cubicBezTo>
                    <a:pt x="2367525" y="192777"/>
                    <a:pt x="2341305" y="218998"/>
                    <a:pt x="2308961" y="218998"/>
                  </a:cubicBezTo>
                  <a:lnTo>
                    <a:pt x="58565" y="218998"/>
                  </a:lnTo>
                  <a:cubicBezTo>
                    <a:pt x="26220" y="218998"/>
                    <a:pt x="0" y="192777"/>
                    <a:pt x="0" y="160433"/>
                  </a:cubicBezTo>
                  <a:lnTo>
                    <a:pt x="0" y="58565"/>
                  </a:lnTo>
                  <a:cubicBezTo>
                    <a:pt x="0" y="26220"/>
                    <a:pt x="26220" y="0"/>
                    <a:pt x="58565" y="0"/>
                  </a:cubicBezTo>
                  <a:close/>
                </a:path>
              </a:pathLst>
            </a:custGeom>
            <a:ln w="9525" cap="rnd">
              <a:solidFill>
                <a:srgbClr val="12475B"/>
              </a:soli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8422"/>
              <a:ext cx="2367525" cy="324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 lang="en-US" sz="2599" b="1" dirty="0">
                <a:solidFill>
                  <a:srgbClr val="12475B"/>
                </a:solidFill>
                <a:latin typeface="Body Grotesque"/>
                <a:ea typeface="Body Grotesque"/>
                <a:cs typeface="Body Grotesque"/>
                <a:sym typeface="Body Grotesque"/>
              </a:endParaRPr>
            </a:p>
            <a:p>
              <a:pPr algn="ctr">
                <a:lnSpc>
                  <a:spcPts val="3639"/>
                </a:lnSpc>
              </a:pPr>
              <a:r>
                <a:rPr lang="en-US" sz="2599" b="1" dirty="0">
                  <a:solidFill>
                    <a:srgbClr val="12475B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NTWALI  MATABARO PATRICK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 b="1" dirty="0">
                  <a:solidFill>
                    <a:srgbClr val="12475B"/>
                  </a:solidFill>
                  <a:latin typeface="Body Grotesque"/>
                  <a:ea typeface="Body Grotesque"/>
                  <a:cs typeface="Body Grotesque"/>
                  <a:sym typeface="Body Grotesque"/>
                </a:rPr>
                <a:t>Le 23 Mai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280445">
            <a:off x="13120843" y="4400088"/>
            <a:ext cx="3982950" cy="3979221"/>
            <a:chOff x="0" y="0"/>
            <a:chExt cx="3255264" cy="3252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55264" cy="3252216"/>
            </a:xfrm>
            <a:custGeom>
              <a:avLst/>
              <a:gdLst/>
              <a:ahLst/>
              <a:cxnLst/>
              <a:rect l="l" t="t" r="r" b="b"/>
              <a:pathLst>
                <a:path w="3255264" h="3252216">
                  <a:moveTo>
                    <a:pt x="3255264" y="3252216"/>
                  </a:moveTo>
                  <a:lnTo>
                    <a:pt x="0" y="3252216"/>
                  </a:lnTo>
                  <a:lnTo>
                    <a:pt x="0" y="0"/>
                  </a:lnTo>
                  <a:lnTo>
                    <a:pt x="3255264" y="0"/>
                  </a:lnTo>
                  <a:lnTo>
                    <a:pt x="3255264" y="3252216"/>
                  </a:lnTo>
                  <a:close/>
                </a:path>
              </a:pathLst>
            </a:custGeom>
            <a:blipFill>
              <a:blip r:embed="rId2"/>
              <a:stretch>
                <a:fillRect l="-15" r="-1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Freeform 4"/>
            <p:cNvSpPr/>
            <p:nvPr/>
          </p:nvSpPr>
          <p:spPr>
            <a:xfrm rot="-672203">
              <a:off x="-57384" y="-71894"/>
              <a:ext cx="3380706" cy="3359900"/>
            </a:xfrm>
            <a:custGeom>
              <a:avLst/>
              <a:gdLst/>
              <a:ahLst/>
              <a:cxnLst/>
              <a:rect l="l" t="t" r="r" b="b"/>
              <a:pathLst>
                <a:path w="3380706" h="3359900">
                  <a:moveTo>
                    <a:pt x="607479" y="545"/>
                  </a:moveTo>
                  <a:lnTo>
                    <a:pt x="3360561" y="578286"/>
                  </a:lnTo>
                  <a:cubicBezTo>
                    <a:pt x="3374288" y="581167"/>
                    <a:pt x="3383065" y="594649"/>
                    <a:pt x="3380145" y="608369"/>
                  </a:cubicBezTo>
                  <a:lnTo>
                    <a:pt x="2798583" y="3339828"/>
                  </a:lnTo>
                  <a:cubicBezTo>
                    <a:pt x="2795656" y="3353572"/>
                    <a:pt x="2782106" y="3362313"/>
                    <a:pt x="2768378" y="3359309"/>
                  </a:cubicBezTo>
                  <a:lnTo>
                    <a:pt x="19934" y="2758151"/>
                  </a:lnTo>
                  <a:cubicBezTo>
                    <a:pt x="6313" y="2755173"/>
                    <a:pt x="-2344" y="2741749"/>
                    <a:pt x="561" y="2728110"/>
                  </a:cubicBezTo>
                  <a:lnTo>
                    <a:pt x="577485" y="20068"/>
                  </a:lnTo>
                  <a:cubicBezTo>
                    <a:pt x="580396" y="6408"/>
                    <a:pt x="593810" y="-2323"/>
                    <a:pt x="607479" y="545"/>
                  </a:cubicBezTo>
                  <a:close/>
                </a:path>
              </a:pathLst>
            </a:custGeom>
            <a:blipFill>
              <a:blip r:embed="rId3"/>
              <a:stretch>
                <a:fillRect l="-25078" t="-362" r="-24941" b="-36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" name="Freeform 5"/>
          <p:cNvSpPr/>
          <p:nvPr/>
        </p:nvSpPr>
        <p:spPr>
          <a:xfrm>
            <a:off x="1803753" y="1028700"/>
            <a:ext cx="1306087" cy="1585757"/>
          </a:xfrm>
          <a:custGeom>
            <a:avLst/>
            <a:gdLst/>
            <a:ahLst/>
            <a:cxnLst/>
            <a:rect l="l" t="t" r="r" b="b"/>
            <a:pathLst>
              <a:path w="1306087" h="1585757">
                <a:moveTo>
                  <a:pt x="0" y="0"/>
                </a:moveTo>
                <a:lnTo>
                  <a:pt x="1306087" y="0"/>
                </a:lnTo>
                <a:lnTo>
                  <a:pt x="1306087" y="1585757"/>
                </a:lnTo>
                <a:lnTo>
                  <a:pt x="0" y="15857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2321813" y="3132364"/>
            <a:ext cx="621988" cy="5798197"/>
          </a:xfrm>
          <a:custGeom>
            <a:avLst/>
            <a:gdLst/>
            <a:ahLst/>
            <a:cxnLst/>
            <a:rect l="l" t="t" r="r" b="b"/>
            <a:pathLst>
              <a:path w="621988" h="5798197">
                <a:moveTo>
                  <a:pt x="0" y="0"/>
                </a:moveTo>
                <a:lnTo>
                  <a:pt x="621988" y="0"/>
                </a:lnTo>
                <a:lnTo>
                  <a:pt x="621988" y="5798198"/>
                </a:lnTo>
                <a:lnTo>
                  <a:pt x="0" y="5798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-17585" y="0"/>
            <a:ext cx="1046286" cy="10287000"/>
            <a:chOff x="0" y="-57150"/>
            <a:chExt cx="234467" cy="2947987"/>
          </a:xfrm>
        </p:grpSpPr>
        <p:sp>
          <p:nvSpPr>
            <p:cNvPr id="8" name="Freeform 8"/>
            <p:cNvSpPr/>
            <p:nvPr/>
          </p:nvSpPr>
          <p:spPr>
            <a:xfrm>
              <a:off x="0" y="-57150"/>
              <a:ext cx="234467" cy="2947987"/>
            </a:xfrm>
            <a:custGeom>
              <a:avLst/>
              <a:gdLst/>
              <a:ahLst/>
              <a:cxnLst/>
              <a:rect l="l" t="t" r="r" b="b"/>
              <a:pathLst>
                <a:path w="234467" h="2890837">
                  <a:moveTo>
                    <a:pt x="0" y="0"/>
                  </a:moveTo>
                  <a:lnTo>
                    <a:pt x="234467" y="0"/>
                  </a:lnTo>
                  <a:lnTo>
                    <a:pt x="234467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34467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50590" y="3467100"/>
            <a:ext cx="7409971" cy="468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4479" lvl="1" indent="-397239" algn="l">
              <a:lnSpc>
                <a:spcPts val="6218"/>
              </a:lnSpc>
              <a:buAutoNum type="arabicPeriod"/>
            </a:pPr>
            <a:endParaRPr dirty="0"/>
          </a:p>
          <a:p>
            <a:pPr marL="794479" lvl="1" indent="-397239" algn="l">
              <a:lnSpc>
                <a:spcPts val="6218"/>
              </a:lnSpc>
              <a:buAutoNum type="arabicPeriod"/>
            </a:pP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Contexte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et 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bjectif</a:t>
            </a:r>
            <a:endParaRPr lang="en-US" sz="3679" u="none" strike="noStrike" dirty="0">
              <a:solidFill>
                <a:srgbClr val="091259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794479" lvl="1" indent="-397239" algn="l">
              <a:lnSpc>
                <a:spcPts val="6218"/>
              </a:lnSpc>
              <a:buAutoNum type="arabicPeriod"/>
            </a:pP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Le Dashboard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intéractif</a:t>
            </a:r>
            <a:endParaRPr lang="en-US" sz="3679" u="none" strike="noStrike" dirty="0">
              <a:solidFill>
                <a:srgbClr val="091259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794479" lvl="1" indent="-397239" algn="l">
              <a:lnSpc>
                <a:spcPts val="6218"/>
              </a:lnSpc>
              <a:buAutoNum type="arabicPeriod"/>
            </a:pP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Résultats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des analyses</a:t>
            </a:r>
          </a:p>
          <a:p>
            <a:pPr marL="794479" lvl="1" indent="-397239" algn="l">
              <a:lnSpc>
                <a:spcPts val="6218"/>
              </a:lnSpc>
              <a:buAutoNum type="arabicPeriod"/>
            </a:pP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Conclusion </a:t>
            </a:r>
          </a:p>
          <a:p>
            <a:pPr marL="794479" lvl="1" indent="-397239" algn="l">
              <a:lnSpc>
                <a:spcPts val="6218"/>
              </a:lnSpc>
              <a:buAutoNum type="arabicPeriod"/>
            </a:pPr>
            <a:endParaRPr lang="en-US" sz="3679" u="none" strike="noStrike" dirty="0">
              <a:solidFill>
                <a:srgbClr val="091259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702801" y="1294312"/>
            <a:ext cx="8726669" cy="113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69"/>
              </a:lnSpc>
              <a:spcBef>
                <a:spcPct val="0"/>
              </a:spcBef>
            </a:pPr>
            <a:r>
              <a:rPr lang="en-US" sz="8045" b="1" u="sng" dirty="0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SOMMAIRE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03753" y="1028700"/>
            <a:ext cx="1306087" cy="1585757"/>
          </a:xfrm>
          <a:custGeom>
            <a:avLst/>
            <a:gdLst/>
            <a:ahLst/>
            <a:cxnLst/>
            <a:rect l="l" t="t" r="r" b="b"/>
            <a:pathLst>
              <a:path w="1306087" h="1585757">
                <a:moveTo>
                  <a:pt x="0" y="0"/>
                </a:moveTo>
                <a:lnTo>
                  <a:pt x="1306087" y="0"/>
                </a:lnTo>
                <a:lnTo>
                  <a:pt x="1306087" y="1585757"/>
                </a:lnTo>
                <a:lnTo>
                  <a:pt x="0" y="15857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321813" y="3132364"/>
            <a:ext cx="621988" cy="5798197"/>
          </a:xfrm>
          <a:custGeom>
            <a:avLst/>
            <a:gdLst/>
            <a:ahLst/>
            <a:cxnLst/>
            <a:rect l="l" t="t" r="r" b="b"/>
            <a:pathLst>
              <a:path w="621988" h="5798197">
                <a:moveTo>
                  <a:pt x="0" y="0"/>
                </a:moveTo>
                <a:lnTo>
                  <a:pt x="621988" y="0"/>
                </a:lnTo>
                <a:lnTo>
                  <a:pt x="621988" y="5798198"/>
                </a:lnTo>
                <a:lnTo>
                  <a:pt x="0" y="5798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890243" cy="10287000"/>
            <a:chOff x="0" y="0"/>
            <a:chExt cx="234467" cy="28908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467" cy="2890837"/>
            </a:xfrm>
            <a:custGeom>
              <a:avLst/>
              <a:gdLst/>
              <a:ahLst/>
              <a:cxnLst/>
              <a:rect l="l" t="t" r="r" b="b"/>
              <a:pathLst>
                <a:path w="234467" h="2890837">
                  <a:moveTo>
                    <a:pt x="0" y="0"/>
                  </a:moveTo>
                  <a:lnTo>
                    <a:pt x="234467" y="0"/>
                  </a:lnTo>
                  <a:lnTo>
                    <a:pt x="234467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34467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142822" y="3688962"/>
            <a:ext cx="13526496" cy="468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6218"/>
              </a:lnSpc>
              <a:buFont typeface="Wingdings" panose="05000000000000000000" pitchFamily="2" charset="2"/>
              <a:buChar char="q"/>
            </a:pP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Suivre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les 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températures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intérieures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emps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ré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(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Dashbord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)</a:t>
            </a:r>
          </a:p>
          <a:p>
            <a:pPr marL="571500" indent="-571500" algn="l">
              <a:lnSpc>
                <a:spcPts val="6218"/>
              </a:lnSpc>
              <a:buFont typeface="Wingdings" panose="05000000000000000000" pitchFamily="2" charset="2"/>
              <a:buChar char="q"/>
            </a:pP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Ide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nt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ifie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et 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omparer les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profils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hermiques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des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if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é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rent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espaces</a:t>
            </a:r>
            <a:endParaRPr lang="en-US" sz="3679" u="none" strike="noStrike" dirty="0">
              <a:solidFill>
                <a:srgbClr val="091259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571500" indent="-571500" algn="l">
              <a:lnSpc>
                <a:spcPts val="6218"/>
              </a:lnSpc>
              <a:buFont typeface="Wingdings" panose="05000000000000000000" pitchFamily="2" charset="2"/>
              <a:buChar char="q"/>
            </a:pP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Éval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u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er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’éffe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des 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dition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météorologiqu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es</a:t>
            </a:r>
            <a:endParaRPr lang="en-US" sz="3679" dirty="0">
              <a:solidFill>
                <a:srgbClr val="091259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marL="571500" indent="-571500" algn="l">
              <a:lnSpc>
                <a:spcPts val="6218"/>
              </a:lnSpc>
              <a:buFont typeface="Wingdings" panose="05000000000000000000" pitchFamily="2" charset="2"/>
              <a:buChar char="q"/>
            </a:pP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y</a:t>
            </a:r>
            <a:r>
              <a:rPr lang="en-US" sz="3679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er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le l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</a:t>
            </a:r>
            <a:r>
              <a:rPr lang="en-US" sz="3679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 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entre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chauffage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météo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et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température</a:t>
            </a:r>
            <a:r>
              <a:rPr lang="en-US" sz="3679" u="none" strike="noStrike" dirty="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3679" u="none" strike="noStrike" dirty="0" err="1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intérieure</a:t>
            </a:r>
            <a:endParaRPr lang="en-US" sz="3679" u="none" strike="noStrike" dirty="0">
              <a:solidFill>
                <a:srgbClr val="091259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218"/>
              </a:lnSpc>
            </a:pPr>
            <a:endParaRPr lang="en-US" sz="3679" u="none" strike="noStrike" dirty="0">
              <a:solidFill>
                <a:srgbClr val="091259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702801" y="1294312"/>
            <a:ext cx="8726669" cy="113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69"/>
              </a:lnSpc>
              <a:spcBef>
                <a:spcPct val="0"/>
              </a:spcBef>
            </a:pPr>
            <a:r>
              <a:rPr lang="en-US" sz="8045" b="1" u="sng" dirty="0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OBJECTIFS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484943" y="-2708736"/>
            <a:ext cx="0" cy="6492240"/>
          </a:xfrm>
          <a:prstGeom prst="line">
            <a:avLst/>
          </a:prstGeom>
          <a:ln w="19050" cap="flat">
            <a:solidFill>
              <a:srgbClr val="206A8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640423" y="3774239"/>
            <a:ext cx="1002072" cy="1223904"/>
          </a:xfrm>
          <a:custGeom>
            <a:avLst/>
            <a:gdLst/>
            <a:ahLst/>
            <a:cxnLst/>
            <a:rect l="l" t="t" r="r" b="b"/>
            <a:pathLst>
              <a:path w="1002072" h="1223904">
                <a:moveTo>
                  <a:pt x="0" y="0"/>
                </a:moveTo>
                <a:lnTo>
                  <a:pt x="1002071" y="0"/>
                </a:lnTo>
                <a:lnTo>
                  <a:pt x="1002071" y="1223904"/>
                </a:lnTo>
                <a:lnTo>
                  <a:pt x="0" y="1223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0" y="-190500"/>
            <a:ext cx="623313" cy="10477502"/>
            <a:chOff x="0" y="-57150"/>
            <a:chExt cx="164165" cy="2978408"/>
          </a:xfrm>
        </p:grpSpPr>
        <p:sp>
          <p:nvSpPr>
            <p:cNvPr id="5" name="Freeform 5"/>
            <p:cNvSpPr/>
            <p:nvPr/>
          </p:nvSpPr>
          <p:spPr>
            <a:xfrm>
              <a:off x="0" y="1"/>
              <a:ext cx="164165" cy="2921257"/>
            </a:xfrm>
            <a:custGeom>
              <a:avLst/>
              <a:gdLst/>
              <a:ahLst/>
              <a:cxnLst/>
              <a:rect l="l" t="t" r="r" b="b"/>
              <a:pathLst>
                <a:path w="164165" h="2890837">
                  <a:moveTo>
                    <a:pt x="0" y="0"/>
                  </a:moveTo>
                  <a:lnTo>
                    <a:pt x="164165" y="0"/>
                  </a:lnTo>
                  <a:lnTo>
                    <a:pt x="164165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64165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510219" y="3336666"/>
            <a:ext cx="1369806" cy="1922535"/>
          </a:xfrm>
          <a:custGeom>
            <a:avLst/>
            <a:gdLst/>
            <a:ahLst/>
            <a:cxnLst/>
            <a:rect l="l" t="t" r="r" b="b"/>
            <a:pathLst>
              <a:path w="1369806" h="1922535">
                <a:moveTo>
                  <a:pt x="0" y="0"/>
                </a:moveTo>
                <a:lnTo>
                  <a:pt x="1369807" y="0"/>
                </a:lnTo>
                <a:lnTo>
                  <a:pt x="1369807" y="1922535"/>
                </a:lnTo>
                <a:lnTo>
                  <a:pt x="0" y="1922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7591641" y="3336666"/>
            <a:ext cx="2107958" cy="2000644"/>
          </a:xfrm>
          <a:custGeom>
            <a:avLst/>
            <a:gdLst/>
            <a:ahLst/>
            <a:cxnLst/>
            <a:rect l="l" t="t" r="r" b="b"/>
            <a:pathLst>
              <a:path w="2107958" h="2000644">
                <a:moveTo>
                  <a:pt x="0" y="0"/>
                </a:moveTo>
                <a:lnTo>
                  <a:pt x="2107958" y="0"/>
                </a:lnTo>
                <a:lnTo>
                  <a:pt x="2107958" y="2000644"/>
                </a:lnTo>
                <a:lnTo>
                  <a:pt x="0" y="2000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3270838" y="3257550"/>
            <a:ext cx="2382233" cy="2251210"/>
          </a:xfrm>
          <a:custGeom>
            <a:avLst/>
            <a:gdLst/>
            <a:ahLst/>
            <a:cxnLst/>
            <a:rect l="l" t="t" r="r" b="b"/>
            <a:pathLst>
              <a:path w="2382233" h="2251210">
                <a:moveTo>
                  <a:pt x="0" y="0"/>
                </a:moveTo>
                <a:lnTo>
                  <a:pt x="2382233" y="0"/>
                </a:lnTo>
                <a:lnTo>
                  <a:pt x="2382233" y="2251210"/>
                </a:lnTo>
                <a:lnTo>
                  <a:pt x="0" y="22512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771295" y="5470660"/>
            <a:ext cx="4740327" cy="65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  <a:spcBef>
                <a:spcPct val="0"/>
              </a:spcBef>
            </a:pPr>
            <a:r>
              <a:rPr lang="en-US" sz="4043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Capteurs</a:t>
            </a:r>
            <a:endParaRPr lang="en-US" sz="4043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30997" y="5470660"/>
            <a:ext cx="4740327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  <a:spcBef>
                <a:spcPct val="0"/>
              </a:spcBef>
            </a:pPr>
            <a:r>
              <a:rPr lang="en-US" sz="4043" b="1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Météo</a:t>
            </a:r>
            <a:endParaRPr lang="en-US" sz="4043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091791" y="5470660"/>
            <a:ext cx="4740327" cy="652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  <a:spcBef>
                <a:spcPct val="0"/>
              </a:spcBef>
            </a:pPr>
            <a:r>
              <a:rPr lang="en-US" sz="404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Energie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55185" y="805658"/>
            <a:ext cx="14059168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5"/>
              </a:lnSpc>
              <a:spcBef>
                <a:spcPct val="0"/>
              </a:spcBef>
            </a:pPr>
            <a:r>
              <a:rPr lang="en-US" sz="57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Données </a:t>
            </a:r>
            <a:r>
              <a:rPr lang="en-US" sz="57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exploitées</a:t>
            </a:r>
            <a:endParaRPr lang="en-US" sz="5743" b="1" dirty="0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56730" y="6201342"/>
            <a:ext cx="4569458" cy="314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261"/>
              </a:lnSpc>
              <a:buFont typeface="Wingdings" panose="05000000000000000000" pitchFamily="2" charset="2"/>
              <a:buChar char="q"/>
            </a:pP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Chambre avec </a:t>
            </a:r>
            <a:r>
              <a:rPr lang="en-US" sz="30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vue</a:t>
            </a: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sur Jardin</a:t>
            </a:r>
          </a:p>
          <a:p>
            <a:pPr marL="457200" indent="-457200">
              <a:lnSpc>
                <a:spcPts val="4261"/>
              </a:lnSpc>
              <a:buFont typeface="Wingdings" panose="05000000000000000000" pitchFamily="2" charset="2"/>
              <a:buChar char="q"/>
            </a:pP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Chambre avec </a:t>
            </a:r>
            <a:r>
              <a:rPr lang="en-US" sz="30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vue</a:t>
            </a: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sur la rue </a:t>
            </a:r>
          </a:p>
          <a:p>
            <a:pPr marL="457200" indent="-457200">
              <a:lnSpc>
                <a:spcPts val="4261"/>
              </a:lnSpc>
              <a:buFont typeface="Wingdings" panose="05000000000000000000" pitchFamily="2" charset="2"/>
              <a:buChar char="q"/>
            </a:pP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salle </a:t>
            </a:r>
            <a:r>
              <a:rPr lang="en-US" sz="30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d’accueil</a:t>
            </a: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2861"/>
              </a:lnSpc>
            </a:pPr>
            <a:endParaRPr lang="en-US" sz="3043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16431" y="6201342"/>
            <a:ext cx="4569458" cy="328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261"/>
              </a:lnSpc>
              <a:buFont typeface="Wingdings" panose="05000000000000000000" pitchFamily="2" charset="2"/>
              <a:buChar char="q"/>
            </a:pPr>
            <a:r>
              <a:rPr lang="en-US" sz="30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Température</a:t>
            </a: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457200" indent="-457200">
              <a:lnSpc>
                <a:spcPts val="4261"/>
              </a:lnSpc>
              <a:buFont typeface="Wingdings" panose="05000000000000000000" pitchFamily="2" charset="2"/>
              <a:buChar char="q"/>
            </a:pP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extérieure</a:t>
            </a: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</a:p>
          <a:p>
            <a:pPr marL="457200" indent="-457200">
              <a:lnSpc>
                <a:spcPts val="4261"/>
              </a:lnSpc>
              <a:buFont typeface="Wingdings" panose="05000000000000000000" pitchFamily="2" charset="2"/>
              <a:buChar char="q"/>
            </a:pPr>
            <a:r>
              <a:rPr lang="en-US" sz="30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Humidité</a:t>
            </a: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</a:p>
          <a:p>
            <a:pPr marL="457200" indent="-457200">
              <a:lnSpc>
                <a:spcPts val="4261"/>
              </a:lnSpc>
              <a:buFont typeface="Wingdings" panose="05000000000000000000" pitchFamily="2" charset="2"/>
              <a:buChar char="q"/>
            </a:pP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Vent , </a:t>
            </a:r>
          </a:p>
          <a:p>
            <a:pPr marL="457200" indent="-457200">
              <a:lnSpc>
                <a:spcPts val="4261"/>
              </a:lnSpc>
              <a:buFont typeface="Wingdings" panose="05000000000000000000" pitchFamily="2" charset="2"/>
              <a:buChar char="q"/>
            </a:pPr>
            <a:r>
              <a:rPr lang="en-US" sz="30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Pression </a:t>
            </a:r>
          </a:p>
          <a:p>
            <a:pPr algn="ctr">
              <a:lnSpc>
                <a:spcPts val="4261"/>
              </a:lnSpc>
            </a:pPr>
            <a:endParaRPr lang="en-US" sz="3043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177226" y="6201342"/>
            <a:ext cx="4569458" cy="119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1"/>
              </a:lnSpc>
            </a:pPr>
            <a:r>
              <a:rPr lang="en-US" sz="33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Consommation</a:t>
            </a:r>
            <a:r>
              <a:rPr lang="en-US" sz="334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43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énergétique</a:t>
            </a:r>
            <a:endParaRPr lang="en-US" sz="3343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623313" cy="10287000"/>
            <a:chOff x="0" y="0"/>
            <a:chExt cx="164165" cy="28908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165" cy="2890837"/>
            </a:xfrm>
            <a:custGeom>
              <a:avLst/>
              <a:gdLst/>
              <a:ahLst/>
              <a:cxnLst/>
              <a:rect l="l" t="t" r="r" b="b"/>
              <a:pathLst>
                <a:path w="164165" h="2890837">
                  <a:moveTo>
                    <a:pt x="0" y="0"/>
                  </a:moveTo>
                  <a:lnTo>
                    <a:pt x="164165" y="0"/>
                  </a:lnTo>
                  <a:lnTo>
                    <a:pt x="164165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64165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03056" y="2098385"/>
            <a:ext cx="7950449" cy="5972775"/>
          </a:xfrm>
          <a:custGeom>
            <a:avLst/>
            <a:gdLst/>
            <a:ahLst/>
            <a:cxnLst/>
            <a:rect l="l" t="t" r="r" b="b"/>
            <a:pathLst>
              <a:path w="7950449" h="5972775">
                <a:moveTo>
                  <a:pt x="0" y="0"/>
                </a:moveTo>
                <a:lnTo>
                  <a:pt x="7950448" y="0"/>
                </a:lnTo>
                <a:lnTo>
                  <a:pt x="7950448" y="5972775"/>
                </a:lnTo>
                <a:lnTo>
                  <a:pt x="0" y="5972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9311201" y="2083731"/>
            <a:ext cx="7950449" cy="5972775"/>
          </a:xfrm>
          <a:custGeom>
            <a:avLst/>
            <a:gdLst/>
            <a:ahLst/>
            <a:cxnLst/>
            <a:rect l="l" t="t" r="r" b="b"/>
            <a:pathLst>
              <a:path w="7950449" h="5972775">
                <a:moveTo>
                  <a:pt x="0" y="0"/>
                </a:moveTo>
                <a:lnTo>
                  <a:pt x="7950449" y="0"/>
                </a:lnTo>
                <a:lnTo>
                  <a:pt x="7950449" y="5972775"/>
                </a:lnTo>
                <a:lnTo>
                  <a:pt x="0" y="5972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427506" y="596872"/>
            <a:ext cx="17057438" cy="15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7"/>
              </a:lnSpc>
            </a:pP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1- Les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profils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horaires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ne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sont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pas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identiques</a:t>
            </a:r>
            <a:endParaRPr lang="en-US" sz="4543" b="1" dirty="0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6002"/>
              </a:lnSpc>
              <a:spcBef>
                <a:spcPct val="0"/>
              </a:spcBef>
            </a:pPr>
            <a:endParaRPr lang="en-US" sz="4543" b="1" dirty="0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0" y="8938297"/>
            <a:ext cx="18288000" cy="13487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 profile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lié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aux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activités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humaine à la reception (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baisse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les weekends) : beaucoup de fluctuations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horaire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semaine</a:t>
            </a:r>
            <a:endParaRPr lang="en-US" sz="2199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profil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plutot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stable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chambre :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stabilité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semaine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(pic à 10h, 16h et 14h)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puis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baisse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aux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heures</a:t>
            </a:r>
            <a:r>
              <a:rPr lang="en-US" sz="2199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tardives</a:t>
            </a:r>
            <a:endParaRPr lang="en-US" sz="2199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617"/>
              </a:lnSpc>
              <a:spcBef>
                <a:spcPct val="0"/>
              </a:spcBef>
            </a:pPr>
            <a:endParaRPr lang="en-US" sz="2199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623313" cy="10287000"/>
            <a:chOff x="0" y="0"/>
            <a:chExt cx="164165" cy="28908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165" cy="2890837"/>
            </a:xfrm>
            <a:custGeom>
              <a:avLst/>
              <a:gdLst/>
              <a:ahLst/>
              <a:cxnLst/>
              <a:rect l="l" t="t" r="r" b="b"/>
              <a:pathLst>
                <a:path w="164165" h="2890837">
                  <a:moveTo>
                    <a:pt x="0" y="0"/>
                  </a:moveTo>
                  <a:lnTo>
                    <a:pt x="164165" y="0"/>
                  </a:lnTo>
                  <a:lnTo>
                    <a:pt x="164165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64165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71850" y="1371441"/>
            <a:ext cx="12420599" cy="4732424"/>
          </a:xfrm>
          <a:custGeom>
            <a:avLst/>
            <a:gdLst/>
            <a:ahLst/>
            <a:cxnLst/>
            <a:rect l="l" t="t" r="r" b="b"/>
            <a:pathLst>
              <a:path w="14159778" h="4732424">
                <a:moveTo>
                  <a:pt x="0" y="0"/>
                </a:moveTo>
                <a:lnTo>
                  <a:pt x="14159779" y="0"/>
                </a:lnTo>
                <a:lnTo>
                  <a:pt x="14159779" y="4732424"/>
                </a:lnTo>
                <a:lnTo>
                  <a:pt x="0" y="4732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96" r="-1846" b="-510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271850" y="6210300"/>
            <a:ext cx="12420599" cy="4183135"/>
          </a:xfrm>
          <a:custGeom>
            <a:avLst/>
            <a:gdLst/>
            <a:ahLst/>
            <a:cxnLst/>
            <a:rect l="l" t="t" r="r" b="b"/>
            <a:pathLst>
              <a:path w="11301259" h="3814175">
                <a:moveTo>
                  <a:pt x="0" y="0"/>
                </a:moveTo>
                <a:lnTo>
                  <a:pt x="11301259" y="0"/>
                </a:lnTo>
                <a:lnTo>
                  <a:pt x="11301259" y="3814175"/>
                </a:lnTo>
                <a:lnTo>
                  <a:pt x="0" y="3814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427506" y="596872"/>
            <a:ext cx="17057438" cy="15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7"/>
              </a:lnSpc>
            </a:pPr>
            <a:r>
              <a:rPr lang="en-US" sz="4543" b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 1- Les profils horaires ne sont pas identiques</a:t>
            </a:r>
          </a:p>
          <a:p>
            <a:pPr algn="l">
              <a:lnSpc>
                <a:spcPts val="6002"/>
              </a:lnSpc>
              <a:spcBef>
                <a:spcPct val="0"/>
              </a:spcBef>
            </a:pPr>
            <a:endParaRPr lang="en-US" sz="4543" b="1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AE7B6-C168-5D59-7DFA-9FB42CD4C58C}"/>
              </a:ext>
            </a:extLst>
          </p:cNvPr>
          <p:cNvSpPr txBox="1"/>
          <p:nvPr/>
        </p:nvSpPr>
        <p:spPr>
          <a:xfrm>
            <a:off x="15011400" y="2700509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Chambre</a:t>
            </a:r>
            <a:endParaRPr lang="fr-FR" sz="3600" b="1" dirty="0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98E24033-985C-FB44-3911-1A09101F9FF5}"/>
              </a:ext>
            </a:extLst>
          </p:cNvPr>
          <p:cNvSpPr/>
          <p:nvPr/>
        </p:nvSpPr>
        <p:spPr>
          <a:xfrm>
            <a:off x="13894724" y="2744591"/>
            <a:ext cx="914400" cy="6096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66A8A-94F0-CA6B-8805-F33152CC209B}"/>
              </a:ext>
            </a:extLst>
          </p:cNvPr>
          <p:cNvSpPr txBox="1"/>
          <p:nvPr/>
        </p:nvSpPr>
        <p:spPr>
          <a:xfrm>
            <a:off x="15011400" y="7581900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Reception</a:t>
            </a:r>
            <a:endParaRPr lang="fr-FR" sz="3600" b="1" dirty="0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5CD94799-FE0E-30C3-643B-F3F3EF3B1C80}"/>
              </a:ext>
            </a:extLst>
          </p:cNvPr>
          <p:cNvSpPr/>
          <p:nvPr/>
        </p:nvSpPr>
        <p:spPr>
          <a:xfrm>
            <a:off x="13915196" y="7618631"/>
            <a:ext cx="914400" cy="6096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A0DDC-3D0A-CB2D-6784-F68C017B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3D42B22C-1167-A78D-ADB5-A5692D237654}"/>
              </a:ext>
            </a:extLst>
          </p:cNvPr>
          <p:cNvGrpSpPr/>
          <p:nvPr/>
        </p:nvGrpSpPr>
        <p:grpSpPr>
          <a:xfrm>
            <a:off x="0" y="0"/>
            <a:ext cx="623313" cy="10287000"/>
            <a:chOff x="0" y="0"/>
            <a:chExt cx="164165" cy="289083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36536EA-E881-3875-2564-1D715A37221B}"/>
                </a:ext>
              </a:extLst>
            </p:cNvPr>
            <p:cNvSpPr/>
            <p:nvPr/>
          </p:nvSpPr>
          <p:spPr>
            <a:xfrm>
              <a:off x="0" y="0"/>
              <a:ext cx="164165" cy="2890837"/>
            </a:xfrm>
            <a:custGeom>
              <a:avLst/>
              <a:gdLst/>
              <a:ahLst/>
              <a:cxnLst/>
              <a:rect l="l" t="t" r="r" b="b"/>
              <a:pathLst>
                <a:path w="164165" h="2890837">
                  <a:moveTo>
                    <a:pt x="0" y="0"/>
                  </a:moveTo>
                  <a:lnTo>
                    <a:pt x="164165" y="0"/>
                  </a:lnTo>
                  <a:lnTo>
                    <a:pt x="164165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9BB070-E27F-BCBE-3D7F-3DE7D573FFC2}"/>
                </a:ext>
              </a:extLst>
            </p:cNvPr>
            <p:cNvSpPr txBox="1"/>
            <p:nvPr/>
          </p:nvSpPr>
          <p:spPr>
            <a:xfrm>
              <a:off x="0" y="-57150"/>
              <a:ext cx="164165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254BE7B-E113-A0F8-0827-795247B666D2}"/>
              </a:ext>
            </a:extLst>
          </p:cNvPr>
          <p:cNvSpPr txBox="1"/>
          <p:nvPr/>
        </p:nvSpPr>
        <p:spPr>
          <a:xfrm>
            <a:off x="427506" y="596872"/>
            <a:ext cx="17057438" cy="150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7"/>
              </a:lnSpc>
            </a:pPr>
            <a:r>
              <a:rPr lang="en-US" sz="4543" b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 1- Les profils horaires ne sont pas identiques</a:t>
            </a:r>
          </a:p>
          <a:p>
            <a:pPr algn="l">
              <a:lnSpc>
                <a:spcPts val="6002"/>
              </a:lnSpc>
              <a:spcBef>
                <a:spcPct val="0"/>
              </a:spcBef>
            </a:pPr>
            <a:endParaRPr lang="en-US" sz="4543" b="1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A3B55D-79C3-9670-7A47-A3AC026E7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790700"/>
            <a:ext cx="12192000" cy="81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2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3240" y="-8792"/>
            <a:ext cx="904494" cy="10295792"/>
            <a:chOff x="0" y="0"/>
            <a:chExt cx="238221" cy="28908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221" cy="2890837"/>
            </a:xfrm>
            <a:custGeom>
              <a:avLst/>
              <a:gdLst/>
              <a:ahLst/>
              <a:cxnLst/>
              <a:rect l="l" t="t" r="r" b="b"/>
              <a:pathLst>
                <a:path w="238221" h="2890837">
                  <a:moveTo>
                    <a:pt x="0" y="0"/>
                  </a:moveTo>
                  <a:lnTo>
                    <a:pt x="238221" y="0"/>
                  </a:lnTo>
                  <a:lnTo>
                    <a:pt x="238221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8221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92097" y="411683"/>
            <a:ext cx="17057438" cy="142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7"/>
              </a:lnSpc>
            </a:pPr>
            <a:r>
              <a:rPr lang="en-US" sz="3600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</a:t>
            </a:r>
            <a:r>
              <a:rPr lang="en-US" sz="3600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2 - Influence de la </a:t>
            </a:r>
            <a:r>
              <a:rPr lang="en-US" sz="3600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météo</a:t>
            </a:r>
            <a:r>
              <a:rPr lang="en-US" sz="3600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et du temps</a:t>
            </a:r>
          </a:p>
          <a:p>
            <a:pPr algn="l">
              <a:lnSpc>
                <a:spcPts val="6002"/>
              </a:lnSpc>
              <a:spcBef>
                <a:spcPct val="0"/>
              </a:spcBef>
            </a:pPr>
            <a:endParaRPr lang="en-US" sz="3600" b="1" dirty="0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E2CCE4-0144-E444-87E8-DAAF0F9204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0322" y="8420101"/>
            <a:ext cx="2598470" cy="17762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469981-45F5-2508-7B18-1CA25D2EC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49" y="1131484"/>
            <a:ext cx="9310350" cy="58366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4DDF83-CB98-F667-D8A9-7756FFACA8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262" y="6148131"/>
            <a:ext cx="8277738" cy="41388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4FBBC0-3C33-4EAB-A20F-458192658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349" y="6968086"/>
            <a:ext cx="6630344" cy="33189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9C5A2D-454F-B736-32D2-1AB5258AD3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531" y="1223317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623313" cy="10287000"/>
            <a:chOff x="0" y="0"/>
            <a:chExt cx="164165" cy="28908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4165" cy="2890837"/>
            </a:xfrm>
            <a:custGeom>
              <a:avLst/>
              <a:gdLst/>
              <a:ahLst/>
              <a:cxnLst/>
              <a:rect l="l" t="t" r="r" b="b"/>
              <a:pathLst>
                <a:path w="164165" h="2890837">
                  <a:moveTo>
                    <a:pt x="0" y="0"/>
                  </a:moveTo>
                  <a:lnTo>
                    <a:pt x="164165" y="0"/>
                  </a:lnTo>
                  <a:lnTo>
                    <a:pt x="164165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64165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7506" y="596872"/>
            <a:ext cx="17057438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7"/>
              </a:lnSpc>
            </a:pP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Résultat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3 -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Chauffage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, conditions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climatiques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et t°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71BDE4-AC18-382E-C3F6-BBF21AAC7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292" y="2054305"/>
            <a:ext cx="7736708" cy="46534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4FA556-2D76-4905-2497-CE2608C28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054305"/>
            <a:ext cx="6400800" cy="32492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833E6F-FDDA-3C0B-C393-78862C778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5676900"/>
            <a:ext cx="4534533" cy="13051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0D0BB1-1114-E8A0-ED5D-7BD07198CA77}"/>
              </a:ext>
            </a:extLst>
          </p:cNvPr>
          <p:cNvSpPr txBox="1"/>
          <p:nvPr/>
        </p:nvSpPr>
        <p:spPr>
          <a:xfrm>
            <a:off x="623313" y="8537331"/>
            <a:ext cx="17664687" cy="1752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3600" b="1" dirty="0"/>
              <a:t>La faible sensibilité de la consommation aux variations de température intérieure suggère une bonne isolation de la maison et une régulation efficace du système de chauffage.</a:t>
            </a:r>
            <a:endParaRPr lang="fr-FR" sz="3600" dirty="0"/>
          </a:p>
          <a:p>
            <a:endParaRPr lang="fr-FR" sz="3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75591" y="3015341"/>
            <a:ext cx="4501187" cy="5655481"/>
            <a:chOff x="0" y="0"/>
            <a:chExt cx="1185498" cy="14895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5498" cy="1489509"/>
            </a:xfrm>
            <a:custGeom>
              <a:avLst/>
              <a:gdLst/>
              <a:ahLst/>
              <a:cxnLst/>
              <a:rect l="l" t="t" r="r" b="b"/>
              <a:pathLst>
                <a:path w="1185498" h="1489509">
                  <a:moveTo>
                    <a:pt x="0" y="0"/>
                  </a:moveTo>
                  <a:lnTo>
                    <a:pt x="1185498" y="0"/>
                  </a:lnTo>
                  <a:lnTo>
                    <a:pt x="1185498" y="1489509"/>
                  </a:lnTo>
                  <a:lnTo>
                    <a:pt x="0" y="1489509"/>
                  </a:lnTo>
                  <a:close/>
                </a:path>
              </a:pathLst>
            </a:custGeom>
            <a:solidFill>
              <a:srgbClr val="EEF4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85498" cy="1527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95711" y="3015341"/>
            <a:ext cx="4501187" cy="5655481"/>
            <a:chOff x="0" y="0"/>
            <a:chExt cx="1185498" cy="14895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5498" cy="1489509"/>
            </a:xfrm>
            <a:custGeom>
              <a:avLst/>
              <a:gdLst/>
              <a:ahLst/>
              <a:cxnLst/>
              <a:rect l="l" t="t" r="r" b="b"/>
              <a:pathLst>
                <a:path w="1185498" h="1489509">
                  <a:moveTo>
                    <a:pt x="0" y="0"/>
                  </a:moveTo>
                  <a:lnTo>
                    <a:pt x="1185498" y="0"/>
                  </a:lnTo>
                  <a:lnTo>
                    <a:pt x="1185498" y="1489509"/>
                  </a:lnTo>
                  <a:lnTo>
                    <a:pt x="0" y="1489509"/>
                  </a:lnTo>
                  <a:close/>
                </a:path>
              </a:pathLst>
            </a:custGeom>
            <a:solidFill>
              <a:srgbClr val="EEF4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5498" cy="1527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34250" y="3567101"/>
            <a:ext cx="959567" cy="95956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293A64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13752" y="3567101"/>
            <a:ext cx="959567" cy="95956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293A64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928999" cy="10287000"/>
            <a:chOff x="0" y="0"/>
            <a:chExt cx="244675" cy="28908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4675" cy="2890837"/>
            </a:xfrm>
            <a:custGeom>
              <a:avLst/>
              <a:gdLst/>
              <a:ahLst/>
              <a:cxnLst/>
              <a:rect l="l" t="t" r="r" b="b"/>
              <a:pathLst>
                <a:path w="244675" h="2890837">
                  <a:moveTo>
                    <a:pt x="0" y="0"/>
                  </a:moveTo>
                  <a:lnTo>
                    <a:pt x="244675" y="0"/>
                  </a:lnTo>
                  <a:lnTo>
                    <a:pt x="244675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44675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415507" y="263981"/>
            <a:ext cx="2444987" cy="2360922"/>
          </a:xfrm>
          <a:custGeom>
            <a:avLst/>
            <a:gdLst/>
            <a:ahLst/>
            <a:cxnLst/>
            <a:rect l="l" t="t" r="r" b="b"/>
            <a:pathLst>
              <a:path w="3008947" h="4114800">
                <a:moveTo>
                  <a:pt x="0" y="0"/>
                </a:moveTo>
                <a:lnTo>
                  <a:pt x="3008947" y="0"/>
                </a:lnTo>
                <a:lnTo>
                  <a:pt x="3008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8" name="Freeform 18"/>
          <p:cNvSpPr/>
          <p:nvPr/>
        </p:nvSpPr>
        <p:spPr>
          <a:xfrm>
            <a:off x="11945858" y="5709919"/>
            <a:ext cx="1022643" cy="736303"/>
          </a:xfrm>
          <a:custGeom>
            <a:avLst/>
            <a:gdLst/>
            <a:ahLst/>
            <a:cxnLst/>
            <a:rect l="l" t="t" r="r" b="b"/>
            <a:pathLst>
              <a:path w="1022643" h="736303">
                <a:moveTo>
                  <a:pt x="0" y="0"/>
                </a:moveTo>
                <a:lnTo>
                  <a:pt x="1022643" y="0"/>
                </a:lnTo>
                <a:lnTo>
                  <a:pt x="1022643" y="736303"/>
                </a:lnTo>
                <a:lnTo>
                  <a:pt x="0" y="736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2534250" y="6039970"/>
            <a:ext cx="3665105" cy="179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maison est bien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isolé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chauffage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s’active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automatiquement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pour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contrer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le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froid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extérieur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dégré-jours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)...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57481" y="5578305"/>
            <a:ext cx="3981988" cy="2719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Mais,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chauffage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automatisé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maintient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température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constante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même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dans des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espaces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qui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sont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parfois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vides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comme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la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réception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durant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le week-end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la nuit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34250" y="4829062"/>
            <a:ext cx="2885238" cy="860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637" b="1" dirty="0">
                <a:solidFill>
                  <a:srgbClr val="293A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 constat </a:t>
            </a:r>
            <a:r>
              <a:rPr lang="en-US" sz="2637" b="1" dirty="0" err="1">
                <a:solidFill>
                  <a:srgbClr val="293A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thermique</a:t>
            </a:r>
            <a:endParaRPr lang="en-US" sz="2637" b="1" dirty="0">
              <a:solidFill>
                <a:srgbClr val="293A64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817419" y="4803989"/>
            <a:ext cx="2885238" cy="43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637" b="1" dirty="0">
                <a:solidFill>
                  <a:srgbClr val="293A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 </a:t>
            </a:r>
            <a:r>
              <a:rPr lang="en-US" sz="2637" b="1" dirty="0" err="1">
                <a:solidFill>
                  <a:srgbClr val="293A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réalité</a:t>
            </a:r>
            <a:r>
              <a:rPr lang="en-US" sz="2637" b="1" dirty="0">
                <a:solidFill>
                  <a:srgbClr val="293A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2637" b="1" dirty="0" err="1">
                <a:solidFill>
                  <a:srgbClr val="293A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d’usage</a:t>
            </a:r>
            <a:endParaRPr lang="en-US" sz="2637" b="1" dirty="0">
              <a:solidFill>
                <a:srgbClr val="293A64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3189917" y="3015341"/>
            <a:ext cx="4501187" cy="5655481"/>
            <a:chOff x="0" y="0"/>
            <a:chExt cx="1185498" cy="148950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85498" cy="1489509"/>
            </a:xfrm>
            <a:custGeom>
              <a:avLst/>
              <a:gdLst/>
              <a:ahLst/>
              <a:cxnLst/>
              <a:rect l="l" t="t" r="r" b="b"/>
              <a:pathLst>
                <a:path w="1185498" h="1489509">
                  <a:moveTo>
                    <a:pt x="0" y="0"/>
                  </a:moveTo>
                  <a:lnTo>
                    <a:pt x="1185498" y="0"/>
                  </a:lnTo>
                  <a:lnTo>
                    <a:pt x="1185498" y="1489509"/>
                  </a:lnTo>
                  <a:lnTo>
                    <a:pt x="0" y="148950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185498" cy="1527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517461" y="5843081"/>
            <a:ext cx="3983990" cy="2257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système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chauffage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actuel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est “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aveugle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” à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l’occupation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traite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reception vide le Dimanche avec la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même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intensité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qu’une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chambre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occupée</a:t>
            </a:r>
            <a:r>
              <a:rPr lang="en-US" sz="2000" dirty="0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à </a:t>
            </a:r>
            <a:r>
              <a:rPr lang="en-US" sz="2000" dirty="0" err="1">
                <a:solidFill>
                  <a:srgbClr val="293A6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minuit</a:t>
            </a:r>
            <a:endParaRPr lang="en-US" sz="2000" dirty="0">
              <a:solidFill>
                <a:srgbClr val="293A64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3935503" y="4663717"/>
            <a:ext cx="959567" cy="95956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293A64"/>
              </a:soli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231122" y="4903260"/>
            <a:ext cx="2885238" cy="43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637" b="1" dirty="0">
                <a:solidFill>
                  <a:srgbClr val="293A6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</a:t>
            </a: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F7A0EE82-13BD-8DB9-0B4C-94EFB9CF4FEE}"/>
              </a:ext>
            </a:extLst>
          </p:cNvPr>
          <p:cNvSpPr txBox="1"/>
          <p:nvPr/>
        </p:nvSpPr>
        <p:spPr>
          <a:xfrm>
            <a:off x="427506" y="596872"/>
            <a:ext cx="17057438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7"/>
              </a:lnSpc>
            </a:pP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Maison LD : Le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paradoxe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enérgetique</a:t>
            </a:r>
            <a:endParaRPr lang="en-US" sz="4543" b="1" dirty="0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23313" cy="10287000"/>
            <a:chOff x="0" y="0"/>
            <a:chExt cx="164165" cy="28908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165" cy="2890837"/>
            </a:xfrm>
            <a:custGeom>
              <a:avLst/>
              <a:gdLst/>
              <a:ahLst/>
              <a:cxnLst/>
              <a:rect l="l" t="t" r="r" b="b"/>
              <a:pathLst>
                <a:path w="164165" h="2890837">
                  <a:moveTo>
                    <a:pt x="0" y="0"/>
                  </a:moveTo>
                  <a:lnTo>
                    <a:pt x="164165" y="0"/>
                  </a:lnTo>
                  <a:lnTo>
                    <a:pt x="164165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4165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3EA5FBA-3521-6EE1-CC80-AABF3B3D4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32722"/>
            <a:ext cx="17125950" cy="8334375"/>
          </a:xfrm>
          <a:prstGeom prst="rect">
            <a:avLst/>
          </a:prstGeom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B8653E82-804F-EAFF-119E-1166692A84A7}"/>
              </a:ext>
            </a:extLst>
          </p:cNvPr>
          <p:cNvSpPr txBox="1"/>
          <p:nvPr/>
        </p:nvSpPr>
        <p:spPr>
          <a:xfrm>
            <a:off x="412560" y="876300"/>
            <a:ext cx="17057438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7"/>
              </a:lnSpc>
            </a:pP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Pour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optimiser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l’éfficacité</a:t>
            </a:r>
            <a:r>
              <a:rPr lang="en-US" sz="4543" b="1" dirty="0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543" b="1" dirty="0" err="1">
                <a:solidFill>
                  <a:srgbClr val="206A87"/>
                </a:solidFill>
                <a:latin typeface="Poppins Bold"/>
                <a:ea typeface="Poppins Bold"/>
                <a:cs typeface="Poppins Bold"/>
                <a:sym typeface="Poppins Bold"/>
              </a:rPr>
              <a:t>énergetique</a:t>
            </a:r>
            <a:endParaRPr lang="en-US" sz="4543" b="1" dirty="0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407"/>
              </a:lnSpc>
            </a:pPr>
            <a:endParaRPr lang="en-US" sz="4543" b="1" dirty="0">
              <a:solidFill>
                <a:srgbClr val="206A87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506A-7BEF-09E3-52D5-383796755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26F7E6-F2DB-8479-E311-BC09E9E79758}"/>
              </a:ext>
            </a:extLst>
          </p:cNvPr>
          <p:cNvGrpSpPr/>
          <p:nvPr/>
        </p:nvGrpSpPr>
        <p:grpSpPr>
          <a:xfrm>
            <a:off x="0" y="-31924"/>
            <a:ext cx="623313" cy="10318924"/>
            <a:chOff x="0" y="0"/>
            <a:chExt cx="164165" cy="28908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225331-B8AE-B081-9B72-81F45264433B}"/>
                </a:ext>
              </a:extLst>
            </p:cNvPr>
            <p:cNvSpPr/>
            <p:nvPr/>
          </p:nvSpPr>
          <p:spPr>
            <a:xfrm>
              <a:off x="0" y="0"/>
              <a:ext cx="164165" cy="2890837"/>
            </a:xfrm>
            <a:custGeom>
              <a:avLst/>
              <a:gdLst/>
              <a:ahLst/>
              <a:cxnLst/>
              <a:rect l="l" t="t" r="r" b="b"/>
              <a:pathLst>
                <a:path w="164165" h="2890837">
                  <a:moveTo>
                    <a:pt x="0" y="0"/>
                  </a:moveTo>
                  <a:lnTo>
                    <a:pt x="164165" y="0"/>
                  </a:lnTo>
                  <a:lnTo>
                    <a:pt x="164165" y="2890837"/>
                  </a:lnTo>
                  <a:lnTo>
                    <a:pt x="0" y="2890837"/>
                  </a:lnTo>
                  <a:close/>
                </a:path>
              </a:pathLst>
            </a:custGeom>
            <a:solidFill>
              <a:srgbClr val="206A8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A6DE05D-1BA1-1B80-5DFE-DFAD4E12082A}"/>
                </a:ext>
              </a:extLst>
            </p:cNvPr>
            <p:cNvSpPr txBox="1"/>
            <p:nvPr/>
          </p:nvSpPr>
          <p:spPr>
            <a:xfrm>
              <a:off x="0" y="-57150"/>
              <a:ext cx="164165" cy="2947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96A16E9-BD06-C547-3ABB-4B66302550D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59807" y="3521478"/>
            <a:ext cx="756838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5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icrosoft Tai Le" panose="020B0502040204020203" pitchFamily="34" charset="0"/>
                <a:cs typeface="Microsoft Tai Le" panose="020B0502040204020203" pitchFamily="34" charset="0"/>
              </a:rPr>
              <a:t>MERCI DE VOTRE ATTENTION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B87E9A-F15F-246E-F5FD-29F8595C3A9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391399" y="5448300"/>
            <a:ext cx="3505200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🙏🏾</a:t>
            </a:r>
          </a:p>
        </p:txBody>
      </p:sp>
    </p:spTree>
    <p:extLst>
      <p:ext uri="{BB962C8B-B14F-4D97-AF65-F5344CB8AC3E}">
        <p14:creationId xmlns:p14="http://schemas.microsoft.com/office/powerpoint/2010/main" val="137525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Custom</PresentationFormat>
  <Paragraphs>82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TT Commons Pro</vt:lpstr>
      <vt:lpstr>Body Grotesque</vt:lpstr>
      <vt:lpstr>Poppins Bold</vt:lpstr>
      <vt:lpstr>Helvetica World Bold</vt:lpstr>
      <vt:lpstr>Helvetica World</vt:lpstr>
      <vt:lpstr>Arial</vt:lpstr>
      <vt:lpstr>Microsoft Tai Le</vt:lpstr>
      <vt:lpstr>Wingdings</vt:lpstr>
      <vt:lpstr>TT Commons Pro Bold</vt:lpstr>
      <vt:lpstr>Aptos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données thermiques et énergetique de la maison de repos LD</dc:title>
  <dc:creator>Ntwali_Patrick</dc:creator>
  <cp:lastModifiedBy>ALSEV PRODATA LAB RDC</cp:lastModifiedBy>
  <cp:revision>15</cp:revision>
  <dcterms:created xsi:type="dcterms:W3CDTF">2006-08-16T00:00:00Z</dcterms:created>
  <dcterms:modified xsi:type="dcterms:W3CDTF">2026-09-19T11:50:08Z</dcterms:modified>
  <dc:identifier>DAHKa3i3eR4</dc:identifier>
</cp:coreProperties>
</file>